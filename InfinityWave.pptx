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228600" y="428400"/>
            <a:ext cx="6222600" cy="984960"/>
          </a:xfrm>
          <a:prstGeom prst="rect">
            <a:avLst/>
          </a:prstGeom>
          <a:noFill/>
          <a:ln w="0">
            <a:noFill/>
          </a:ln>
          <a:effectLst>
            <a:outerShdw dist="19080" dir="5400000" blurRad="57240" rotWithShape="0">
              <a:srgbClr val="ffffff">
                <a:alpha val="5000"/>
              </a:srgbClr>
            </a:outerShdw>
          </a:effectLst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9;p14" descr=""/>
          <p:cNvPicPr/>
          <p:nvPr/>
        </p:nvPicPr>
        <p:blipFill>
          <a:blip r:embed="rId2"/>
          <a:stretch/>
        </p:blipFill>
        <p:spPr>
          <a:xfrm flipH="1" rot="10800000"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475120" cy="13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11;p20" descr="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Google Shape;112;p20"/>
          <p:cNvSpPr/>
          <p:nvPr/>
        </p:nvSpPr>
        <p:spPr>
          <a:xfrm>
            <a:off x="228600" y="3283560"/>
            <a:ext cx="494532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CREDITS: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 This presentation template was created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Public Sans"/>
                <a:ea typeface="Public Sans"/>
                <a:hlinkClick r:id="rId3"/>
              </a:rPr>
              <a:t>Slidesgo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, and includes icons, infographics &amp; images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Public Sans"/>
                <a:ea typeface="Public Sans"/>
                <a:hlinkClick r:id="rId4"/>
              </a:rPr>
              <a:t>Freepik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562080" cy="98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5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7;p4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228600" y="3999600"/>
            <a:ext cx="2020320" cy="73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4;p27" descr=""/>
          <p:cNvPicPr/>
          <p:nvPr/>
        </p:nvPicPr>
        <p:blipFill>
          <a:blip r:embed="rId1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" name="Google Shape;138;p27"/>
          <p:cNvGrpSpPr/>
          <p:nvPr/>
        </p:nvGrpSpPr>
        <p:grpSpPr>
          <a:xfrm>
            <a:off x="-553320" y="270720"/>
            <a:ext cx="9278280" cy="1300320"/>
            <a:chOff x="-553320" y="270720"/>
            <a:chExt cx="9278280" cy="1300320"/>
          </a:xfrm>
        </p:grpSpPr>
        <p:sp>
          <p:nvSpPr>
            <p:cNvPr id="15" name="Google Shape;139;p27"/>
            <p:cNvSpPr/>
            <p:nvPr/>
          </p:nvSpPr>
          <p:spPr>
            <a:xfrm>
              <a:off x="-553320" y="270720"/>
              <a:ext cx="9278280" cy="1300320"/>
            </a:xfrm>
            <a:prstGeom prst="roundRect">
              <a:avLst>
                <a:gd name="adj" fmla="val 43641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140;p27"/>
            <p:cNvSpPr/>
            <p:nvPr/>
          </p:nvSpPr>
          <p:spPr>
            <a:xfrm>
              <a:off x="-343800" y="465480"/>
              <a:ext cx="207720" cy="20772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3440" bIns="73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" name="Google Shape;135;p27"/>
          <p:cNvGrpSpPr/>
          <p:nvPr/>
        </p:nvGrpSpPr>
        <p:grpSpPr>
          <a:xfrm>
            <a:off x="126000" y="3843000"/>
            <a:ext cx="2587320" cy="1300320"/>
            <a:chOff x="126000" y="3843000"/>
            <a:chExt cx="2587320" cy="1300320"/>
          </a:xfrm>
        </p:grpSpPr>
        <p:sp>
          <p:nvSpPr>
            <p:cNvPr id="18" name="Google Shape;136;p27"/>
            <p:cNvSpPr/>
            <p:nvPr/>
          </p:nvSpPr>
          <p:spPr>
            <a:xfrm>
              <a:off x="126000" y="3843000"/>
              <a:ext cx="2587320" cy="1300320"/>
            </a:xfrm>
            <a:prstGeom prst="round2SameRect">
              <a:avLst>
                <a:gd name="adj1" fmla="val 25836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137;p27"/>
            <p:cNvSpPr/>
            <p:nvPr/>
          </p:nvSpPr>
          <p:spPr>
            <a:xfrm>
              <a:off x="126000" y="3843000"/>
              <a:ext cx="2587320" cy="1300320"/>
            </a:xfrm>
            <a:prstGeom prst="round2SameRect">
              <a:avLst>
                <a:gd name="adj1" fmla="val 25836"/>
                <a:gd name="adj2" fmla="val 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0" name=""/>
          <p:cNvSpPr/>
          <p:nvPr/>
        </p:nvSpPr>
        <p:spPr>
          <a:xfrm>
            <a:off x="228600" y="428760"/>
            <a:ext cx="621936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7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InfinityWave</a:t>
            </a:r>
            <a:endParaRPr b="0" lang="en-US" sz="47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"/>
          <p:cNvSpPr/>
          <p:nvPr/>
        </p:nvSpPr>
        <p:spPr>
          <a:xfrm>
            <a:off x="304920" y="3933720"/>
            <a:ext cx="22284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 fontScale="85000" lnSpcReduction="19999"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Paste the meeting. Get the plan.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>
            <a:off x="228600" y="228600"/>
            <a:ext cx="84769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Handoff Is Error-Prone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"/>
          <p:cNvSpPr/>
          <p:nvPr/>
        </p:nvSpPr>
        <p:spPr>
          <a:xfrm>
            <a:off x="228600" y="1704960"/>
            <a:ext cx="556236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After a single meeting, the handoff becomes a fragile bridge to action. In one session: three clients, twelve tasks, four last-minute changes. A designated owner converts talk into a formal plan—often hours of drafting, re-reading, and chasing inconsistencies. Each rewrite introduces avoidable mistakes that ripple into blockers and rework.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4952880" y="343080"/>
            <a:ext cx="3714480" cy="1294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"/>
          <p:cNvSpPr/>
          <p:nvPr/>
        </p:nvSpPr>
        <p:spPr>
          <a:xfrm>
            <a:off x="4952880" y="1847880"/>
            <a:ext cx="3714480" cy="1294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" name=""/>
          <p:cNvSpPr/>
          <p:nvPr/>
        </p:nvSpPr>
        <p:spPr>
          <a:xfrm>
            <a:off x="4952880" y="3352680"/>
            <a:ext cx="3714480" cy="1294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"/>
          <p:cNvSpPr/>
          <p:nvPr/>
        </p:nvSpPr>
        <p:spPr>
          <a:xfrm>
            <a:off x="476280" y="3808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Manual Handoff Cost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" name=""/>
          <p:cNvSpPr/>
          <p:nvPr/>
        </p:nvSpPr>
        <p:spPr>
          <a:xfrm>
            <a:off x="476280" y="3429000"/>
            <a:ext cx="3619080" cy="7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Manual handoffs from meetings create hidden waste: hours wasted per handoff and higher risk of missed deadlines.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" name=""/>
          <p:cNvSpPr/>
          <p:nvPr/>
        </p:nvSpPr>
        <p:spPr>
          <a:xfrm>
            <a:off x="5219640" y="380880"/>
            <a:ext cx="318096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2–3 h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" name=""/>
          <p:cNvSpPr/>
          <p:nvPr/>
        </p:nvSpPr>
        <p:spPr>
          <a:xfrm>
            <a:off x="5219640" y="990720"/>
            <a:ext cx="31809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Typical manual conversion time per meeting.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" name=""/>
          <p:cNvSpPr/>
          <p:nvPr/>
        </p:nvSpPr>
        <p:spPr>
          <a:xfrm>
            <a:off x="5219640" y="1886040"/>
            <a:ext cx="318096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3 projects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2" name=""/>
          <p:cNvSpPr/>
          <p:nvPr/>
        </p:nvSpPr>
        <p:spPr>
          <a:xfrm>
            <a:off x="5219640" y="2495520"/>
            <a:ext cx="31809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Projects spawned from a 60-minute handoff.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"/>
          <p:cNvSpPr/>
          <p:nvPr/>
        </p:nvSpPr>
        <p:spPr>
          <a:xfrm>
            <a:off x="5219640" y="3390840"/>
            <a:ext cx="318096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12 tasks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"/>
          <p:cNvSpPr/>
          <p:nvPr/>
        </p:nvSpPr>
        <p:spPr>
          <a:xfrm>
            <a:off x="5219640" y="4000680"/>
            <a:ext cx="31809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Tasks generated from that same conversion.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228600" y="228600"/>
            <a:ext cx="84769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Transcript to Plan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"/>
          <p:cNvSpPr/>
          <p:nvPr/>
        </p:nvSpPr>
        <p:spPr>
          <a:xfrm>
            <a:off x="228600" y="1704960"/>
            <a:ext cx="556236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It turns a pasted transcript into a validated plan in one click. Admin pastes the transcript; AI extracts projects, tasks, owners, deadlines, and hours. Validated cards appear for review, allowing quick confirmation and hand-off. Example: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 60 minutes → 3 projects,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12 ready-to-use tasks in seconds.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476280" y="1866960"/>
            <a:ext cx="1914120" cy="2800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"/>
          <p:cNvSpPr/>
          <p:nvPr/>
        </p:nvSpPr>
        <p:spPr>
          <a:xfrm>
            <a:off x="2523960" y="1866960"/>
            <a:ext cx="1914120" cy="2800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" name=""/>
          <p:cNvSpPr/>
          <p:nvPr/>
        </p:nvSpPr>
        <p:spPr>
          <a:xfrm>
            <a:off x="4572000" y="1866960"/>
            <a:ext cx="1914120" cy="2800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"/>
          <p:cNvSpPr/>
          <p:nvPr/>
        </p:nvSpPr>
        <p:spPr>
          <a:xfrm>
            <a:off x="6620040" y="1866960"/>
            <a:ext cx="1914120" cy="2800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" name="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Guardrails Timeline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"/>
          <p:cNvSpPr/>
          <p:nvPr/>
        </p:nvSpPr>
        <p:spPr>
          <a:xfrm>
            <a:off x="476280" y="123840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01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"/>
          <p:cNvSpPr/>
          <p:nvPr/>
        </p:nvSpPr>
        <p:spPr>
          <a:xfrm>
            <a:off x="666720" y="2133720"/>
            <a:ext cx="15332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Transcript Intake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"/>
          <p:cNvSpPr/>
          <p:nvPr/>
        </p:nvSpPr>
        <p:spPr>
          <a:xfrm>
            <a:off x="666720" y="2666880"/>
            <a:ext cx="15332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AI ingests the meeting transcript and surfaces candidate actions and proposed owners.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"/>
          <p:cNvSpPr/>
          <p:nvPr/>
        </p:nvSpPr>
        <p:spPr>
          <a:xfrm>
            <a:off x="2523960" y="123840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02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" name=""/>
          <p:cNvSpPr/>
          <p:nvPr/>
        </p:nvSpPr>
        <p:spPr>
          <a:xfrm>
            <a:off x="2714760" y="2133720"/>
            <a:ext cx="15332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Prioritize Decisions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"/>
          <p:cNvSpPr/>
          <p:nvPr/>
        </p:nvSpPr>
        <p:spPr>
          <a:xfrm>
            <a:off x="2714760" y="2666880"/>
            <a:ext cx="153324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Final explicit decisions override first suggestions and draft items.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"/>
          <p:cNvSpPr/>
          <p:nvPr/>
        </p:nvSpPr>
        <p:spPr>
          <a:xfrm>
            <a:off x="4572000" y="123840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03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"/>
          <p:cNvSpPr/>
          <p:nvPr/>
        </p:nvSpPr>
        <p:spPr>
          <a:xfrm>
            <a:off x="4762440" y="2133720"/>
            <a:ext cx="15332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Suppress Rejections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" name=""/>
          <p:cNvSpPr/>
          <p:nvPr/>
        </p:nvSpPr>
        <p:spPr>
          <a:xfrm>
            <a:off x="4762440" y="2666880"/>
            <a:ext cx="1533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Items outside scope (payments, maps, inventory) are automatically ignored.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"/>
          <p:cNvSpPr/>
          <p:nvPr/>
        </p:nvSpPr>
        <p:spPr>
          <a:xfrm>
            <a:off x="6620040" y="123840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04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"/>
          <p:cNvSpPr/>
          <p:nvPr/>
        </p:nvSpPr>
        <p:spPr>
          <a:xfrm>
            <a:off x="6810480" y="2133720"/>
            <a:ext cx="15332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Owner Conflicts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"/>
          <p:cNvSpPr/>
          <p:nvPr/>
        </p:nvSpPr>
        <p:spPr>
          <a:xfrm>
            <a:off x="6810480" y="2666880"/>
            <a:ext cx="153324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When ownership clashes, the last confirmed assignment prevails.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Final Choices Preserved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"/>
          <p:cNvSpPr/>
          <p:nvPr/>
        </p:nvSpPr>
        <p:spPr>
          <a:xfrm>
            <a:off x="476280" y="1428840"/>
            <a:ext cx="23810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Deadline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"/>
          <p:cNvSpPr/>
          <p:nvPr/>
        </p:nvSpPr>
        <p:spPr>
          <a:xfrm>
            <a:off x="3048120" y="1428840"/>
            <a:ext cx="25714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Final decision preserved; recorded as 20 Oct, not 18.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"/>
          <p:cNvSpPr/>
          <p:nvPr/>
        </p:nvSpPr>
        <p:spPr>
          <a:xfrm>
            <a:off x="5810400" y="1428840"/>
            <a:ext cx="285732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20 Oct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"/>
          <p:cNvSpPr/>
          <p:nvPr/>
        </p:nvSpPr>
        <p:spPr>
          <a:xfrm>
            <a:off x="476280" y="2238480"/>
            <a:ext cx="23810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Effort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"/>
          <p:cNvSpPr/>
          <p:nvPr/>
        </p:nvSpPr>
        <p:spPr>
          <a:xfrm>
            <a:off x="3048120" y="2238480"/>
            <a:ext cx="25714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Final effort committed; matches decision, not 8h.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"/>
          <p:cNvSpPr/>
          <p:nvPr/>
        </p:nvSpPr>
        <p:spPr>
          <a:xfrm>
            <a:off x="5810400" y="2238480"/>
            <a:ext cx="285732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10h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1" name=""/>
          <p:cNvSpPr/>
          <p:nvPr/>
        </p:nvSpPr>
        <p:spPr>
          <a:xfrm>
            <a:off x="476280" y="3048120"/>
            <a:ext cx="23810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Testing Owner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"/>
          <p:cNvSpPr/>
          <p:nvPr/>
        </p:nvSpPr>
        <p:spPr>
          <a:xfrm>
            <a:off x="3048120" y="3048120"/>
            <a:ext cx="25714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Owner captured correctly; not Zain.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"/>
          <p:cNvSpPr/>
          <p:nvPr/>
        </p:nvSpPr>
        <p:spPr>
          <a:xfrm>
            <a:off x="5810400" y="3048120"/>
            <a:ext cx="285732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Maryam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"/>
          <p:cNvSpPr/>
          <p:nvPr/>
        </p:nvSpPr>
        <p:spPr>
          <a:xfrm>
            <a:off x="476280" y="3857760"/>
            <a:ext cx="23810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Payment Task Saved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"/>
          <p:cNvSpPr/>
          <p:nvPr/>
        </p:nvSpPr>
        <p:spPr>
          <a:xfrm>
            <a:off x="3048120" y="3857760"/>
            <a:ext cx="25714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No payment task saved; 'Add payments?' rejected.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"/>
          <p:cNvSpPr/>
          <p:nvPr/>
        </p:nvSpPr>
        <p:spPr>
          <a:xfrm>
            <a:off x="5810400" y="3857760"/>
            <a:ext cx="285732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0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3610080" y="628560"/>
            <a:ext cx="9000" cy="38858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" name=""/>
          <p:cNvSpPr/>
          <p:nvPr/>
        </p:nvSpPr>
        <p:spPr>
          <a:xfrm>
            <a:off x="3143160" y="324000"/>
            <a:ext cx="952200" cy="30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"/>
          <p:cNvSpPr/>
          <p:nvPr/>
        </p:nvSpPr>
        <p:spPr>
          <a:xfrm>
            <a:off x="3143160" y="4514760"/>
            <a:ext cx="952200" cy="304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"/>
          <p:cNvSpPr/>
          <p:nvPr/>
        </p:nvSpPr>
        <p:spPr>
          <a:xfrm>
            <a:off x="3610080" y="1171440"/>
            <a:ext cx="561600" cy="9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-35640" bIns="-35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"/>
          <p:cNvSpPr/>
          <p:nvPr/>
        </p:nvSpPr>
        <p:spPr>
          <a:xfrm rot="5400000">
            <a:off x="4172040" y="1133640"/>
            <a:ext cx="75960" cy="75960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-6840" bIns="-68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2" name=""/>
          <p:cNvSpPr/>
          <p:nvPr/>
        </p:nvSpPr>
        <p:spPr>
          <a:xfrm>
            <a:off x="3610080" y="2562120"/>
            <a:ext cx="561600" cy="9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-35640" bIns="-35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"/>
          <p:cNvSpPr/>
          <p:nvPr/>
        </p:nvSpPr>
        <p:spPr>
          <a:xfrm rot="5400000">
            <a:off x="4172040" y="2523960"/>
            <a:ext cx="75960" cy="75960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-6840" bIns="-68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"/>
          <p:cNvSpPr/>
          <p:nvPr/>
        </p:nvSpPr>
        <p:spPr>
          <a:xfrm>
            <a:off x="3610080" y="3952800"/>
            <a:ext cx="561600" cy="9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-35640" bIns="-35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" name=""/>
          <p:cNvSpPr/>
          <p:nvPr/>
        </p:nvSpPr>
        <p:spPr>
          <a:xfrm rot="5400000">
            <a:off x="4172040" y="3914640"/>
            <a:ext cx="75960" cy="75960"/>
          </a:xfrm>
          <a:prstGeom prst="triangle">
            <a:avLst>
              <a:gd name="adj" fmla="val 50000"/>
            </a:avLst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vertOverflow="clip" lIns="90000" rIns="90000" tIns="-6840" bIns="-68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6" name=""/>
          <p:cNvSpPr/>
          <p:nvPr/>
        </p:nvSpPr>
        <p:spPr>
          <a:xfrm>
            <a:off x="476280" y="324000"/>
            <a:ext cx="2285640" cy="11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All-or-Nothing Save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"/>
          <p:cNvSpPr/>
          <p:nvPr/>
        </p:nvSpPr>
        <p:spPr>
          <a:xfrm>
            <a:off x="4476600" y="885960"/>
            <a:ext cx="15235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Capture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" name=""/>
          <p:cNvSpPr/>
          <p:nvPr/>
        </p:nvSpPr>
        <p:spPr>
          <a:xfrm>
            <a:off x="6191280" y="714240"/>
            <a:ext cx="24760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User enters data (dates, hours, roles) for a record.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"/>
          <p:cNvSpPr/>
          <p:nvPr/>
        </p:nvSpPr>
        <p:spPr>
          <a:xfrm>
            <a:off x="4476600" y="2276640"/>
            <a:ext cx="15235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Validate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0" name=""/>
          <p:cNvSpPr/>
          <p:nvPr/>
        </p:nvSpPr>
        <p:spPr>
          <a:xfrm>
            <a:off x="6191280" y="2104920"/>
            <a:ext cx="24760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Each field is validated; any error stops the save and reports fixes to admin.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1" name=""/>
          <p:cNvSpPr/>
          <p:nvPr/>
        </p:nvSpPr>
        <p:spPr>
          <a:xfrm>
            <a:off x="4476600" y="3666960"/>
            <a:ext cx="15235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Persist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2" name=""/>
          <p:cNvSpPr/>
          <p:nvPr/>
        </p:nvSpPr>
        <p:spPr>
          <a:xfrm>
            <a:off x="6191280" y="3495600"/>
            <a:ext cx="24760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Atomic save: the entire record commits or nothing saves.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228600" y="228600"/>
            <a:ext cx="84769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Sora"/>
              </a:rPr>
              <a:t>Pilot in 30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4" name=""/>
          <p:cNvSpPr/>
          <p:nvPr/>
        </p:nvSpPr>
        <p:spPr>
          <a:xfrm>
            <a:off x="228600" y="1704960"/>
            <a:ext cx="556236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Public Sans"/>
              </a:rPr>
              <a:t>Schedule a 30-minute pilot. We run one real meeting transcript ,deliver a validated automation plan, and measure time saved and error reduction. You’ll gain concrete metrics and a ready-to-implement path for broader rollout.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28600" y="227880"/>
            <a:ext cx="6562440" cy="98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5200" strike="noStrike" u="none">
                <a:solidFill>
                  <a:schemeClr val="dk1"/>
                </a:solidFill>
                <a:effectLst/>
                <a:uFillTx/>
                <a:latin typeface="Sora"/>
                <a:ea typeface="Sora"/>
              </a:rPr>
              <a:t>Thank you</a:t>
            </a:r>
            <a:endParaRPr b="0" lang="fr-FR" sz="5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228600" y="1266840"/>
            <a:ext cx="4447800" cy="10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Do you have any questions?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youremail@freepik.com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+00 000 000 000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Public Sans"/>
                <a:ea typeface="Public Sans"/>
              </a:rPr>
              <a:t>yourwebsite.com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7" name="Google Shape;291;p40"/>
          <p:cNvSpPr/>
          <p:nvPr/>
        </p:nvSpPr>
        <p:spPr>
          <a:xfrm>
            <a:off x="304920" y="3962520"/>
            <a:ext cx="41526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8" name="Google Shape;292;p40"/>
          <p:cNvSpPr/>
          <p:nvPr/>
        </p:nvSpPr>
        <p:spPr>
          <a:xfrm>
            <a:off x="304920" y="2638440"/>
            <a:ext cx="331200" cy="331560"/>
          </a:xfrm>
          <a:custGeom>
            <a:avLst/>
            <a:gdLst>
              <a:gd name="textAreaLeft" fmla="*/ 0 w 331200"/>
              <a:gd name="textAreaRight" fmla="*/ 331560 w 331200"/>
              <a:gd name="textAreaTop" fmla="*/ 0 h 331560"/>
              <a:gd name="textAreaBottom" fmla="*/ 331920 h 331560"/>
            </a:gdLst>
            <a:ahLst/>
            <a:cxnLst/>
            <a:rect l="textAreaLeft" t="textAreaTop" r="textAreaRight" b="textAreaBottom"/>
            <a:pathLst>
              <a:path w="10860" h="10872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89" name="Google Shape;293;p40"/>
          <p:cNvGrpSpPr/>
          <p:nvPr/>
        </p:nvGrpSpPr>
        <p:grpSpPr>
          <a:xfrm>
            <a:off x="798840" y="2638080"/>
            <a:ext cx="327600" cy="332640"/>
            <a:chOff x="798840" y="2638080"/>
            <a:chExt cx="327600" cy="332640"/>
          </a:xfrm>
        </p:grpSpPr>
        <p:sp>
          <p:nvSpPr>
            <p:cNvPr id="90" name="Google Shape;294;p40"/>
            <p:cNvSpPr/>
            <p:nvPr/>
          </p:nvSpPr>
          <p:spPr>
            <a:xfrm>
              <a:off x="798840" y="2638080"/>
              <a:ext cx="327600" cy="332640"/>
            </a:xfrm>
            <a:custGeom>
              <a:avLst/>
              <a:gdLst>
                <a:gd name="textAreaLeft" fmla="*/ 0 w 327600"/>
                <a:gd name="textAreaRight" fmla="*/ 327960 w 327600"/>
                <a:gd name="textAreaTop" fmla="*/ 0 h 332640"/>
                <a:gd name="textAreaBottom" fmla="*/ 333000 h 3326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295;p40"/>
            <p:cNvSpPr/>
            <p:nvPr/>
          </p:nvSpPr>
          <p:spPr>
            <a:xfrm>
              <a:off x="860400" y="2701080"/>
              <a:ext cx="203760" cy="207000"/>
            </a:xfrm>
            <a:custGeom>
              <a:avLst/>
              <a:gdLst>
                <a:gd name="textAreaLeft" fmla="*/ 0 w 203760"/>
                <a:gd name="textAreaRight" fmla="*/ 204120 w 203760"/>
                <a:gd name="textAreaTop" fmla="*/ 0 h 207000"/>
                <a:gd name="textAreaBottom" fmla="*/ 207360 h 20700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296;p40"/>
            <p:cNvSpPr/>
            <p:nvPr/>
          </p:nvSpPr>
          <p:spPr>
            <a:xfrm>
              <a:off x="907920" y="275004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4360" bIns="54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297;p40"/>
            <p:cNvSpPr/>
            <p:nvPr/>
          </p:nvSpPr>
          <p:spPr>
            <a:xfrm>
              <a:off x="1003680" y="2727720"/>
              <a:ext cx="27720" cy="2772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040" bIns="14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4" name="Google Shape;298;p40"/>
          <p:cNvGrpSpPr/>
          <p:nvPr/>
        </p:nvGrpSpPr>
        <p:grpSpPr>
          <a:xfrm>
            <a:off x="1302480" y="2638080"/>
            <a:ext cx="332640" cy="332640"/>
            <a:chOff x="1302480" y="2638080"/>
            <a:chExt cx="332640" cy="332640"/>
          </a:xfrm>
        </p:grpSpPr>
        <p:sp>
          <p:nvSpPr>
            <p:cNvPr id="95" name="Google Shape;299;p40"/>
            <p:cNvSpPr/>
            <p:nvPr/>
          </p:nvSpPr>
          <p:spPr>
            <a:xfrm>
              <a:off x="1302480" y="2638080"/>
              <a:ext cx="332640" cy="332640"/>
            </a:xfrm>
            <a:custGeom>
              <a:avLst/>
              <a:gdLst>
                <a:gd name="textAreaLeft" fmla="*/ 0 w 332640"/>
                <a:gd name="textAreaRight" fmla="*/ 333000 w 332640"/>
                <a:gd name="textAreaTop" fmla="*/ 0 h 332640"/>
                <a:gd name="textAreaBottom" fmla="*/ 333000 h 3326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300;p40"/>
            <p:cNvSpPr/>
            <p:nvPr/>
          </p:nvSpPr>
          <p:spPr>
            <a:xfrm>
              <a:off x="1379160" y="2771280"/>
              <a:ext cx="45720" cy="11592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115920"/>
                <a:gd name="textAreaBottom" fmla="*/ 116280 h 11592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301;p40"/>
            <p:cNvSpPr/>
            <p:nvPr/>
          </p:nvSpPr>
          <p:spPr>
            <a:xfrm>
              <a:off x="1371960" y="2708280"/>
              <a:ext cx="52560" cy="52560"/>
            </a:xfrm>
            <a:custGeom>
              <a:avLst/>
              <a:gdLst>
                <a:gd name="textAreaLeft" fmla="*/ 0 w 52560"/>
                <a:gd name="textAreaRight" fmla="*/ 52920 w 52560"/>
                <a:gd name="textAreaTop" fmla="*/ 0 h 52560"/>
                <a:gd name="textAreaBottom" fmla="*/ 52920 h 5256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6280" bIns="26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302;p40"/>
            <p:cNvSpPr/>
            <p:nvPr/>
          </p:nvSpPr>
          <p:spPr>
            <a:xfrm>
              <a:off x="1449000" y="2771280"/>
              <a:ext cx="123120" cy="115920"/>
            </a:xfrm>
            <a:custGeom>
              <a:avLst/>
              <a:gdLst>
                <a:gd name="textAreaLeft" fmla="*/ 0 w 123120"/>
                <a:gd name="textAreaRight" fmla="*/ 123480 w 123120"/>
                <a:gd name="textAreaTop" fmla="*/ 0 h 115920"/>
                <a:gd name="textAreaBottom" fmla="*/ 116280 h 11592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960" bIns="57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9" name="Google Shape;303;p40"/>
          <p:cNvGrpSpPr/>
          <p:nvPr/>
        </p:nvGrpSpPr>
        <p:grpSpPr>
          <a:xfrm>
            <a:off x="1791720" y="2638080"/>
            <a:ext cx="332640" cy="332640"/>
            <a:chOff x="1791720" y="2638080"/>
            <a:chExt cx="332640" cy="332640"/>
          </a:xfrm>
        </p:grpSpPr>
        <p:sp>
          <p:nvSpPr>
            <p:cNvPr id="100" name="Google Shape;304;p40"/>
            <p:cNvSpPr/>
            <p:nvPr/>
          </p:nvSpPr>
          <p:spPr>
            <a:xfrm>
              <a:off x="1866240" y="2710440"/>
              <a:ext cx="183960" cy="188280"/>
            </a:xfrm>
            <a:custGeom>
              <a:avLst/>
              <a:gdLst>
                <a:gd name="textAreaLeft" fmla="*/ 0 w 183960"/>
                <a:gd name="textAreaRight" fmla="*/ 184320 w 183960"/>
                <a:gd name="textAreaTop" fmla="*/ 0 h 188280"/>
                <a:gd name="textAreaBottom" fmla="*/ 188640 h 188280"/>
              </a:gdLst>
              <a:ahLst/>
              <a:cxnLst/>
              <a:rect l="textAreaLeft" t="textAreaTop" r="textAreaRight" b="textAreaBottom"/>
              <a:pathLst>
                <a:path w="494728" h="505587">
                  <a:moveTo>
                    <a:pt x="294418" y="214122"/>
                  </a:moveTo>
                  <a:lnTo>
                    <a:pt x="478631" y="0"/>
                  </a:lnTo>
                  <a:lnTo>
                    <a:pt x="435007" y="0"/>
                  </a:lnTo>
                  <a:lnTo>
                    <a:pt x="275082" y="185928"/>
                  </a:lnTo>
                  <a:lnTo>
                    <a:pt x="147352" y="0"/>
                  </a:lnTo>
                  <a:lnTo>
                    <a:pt x="0" y="0"/>
                  </a:lnTo>
                  <a:lnTo>
                    <a:pt x="193167" y="281083"/>
                  </a:lnTo>
                  <a:lnTo>
                    <a:pt x="0" y="505587"/>
                  </a:lnTo>
                  <a:lnTo>
                    <a:pt x="43625" y="505587"/>
                  </a:lnTo>
                  <a:lnTo>
                    <a:pt x="212503" y="309277"/>
                  </a:lnTo>
                  <a:lnTo>
                    <a:pt x="347377" y="505587"/>
                  </a:lnTo>
                  <a:lnTo>
                    <a:pt x="494729" y="505587"/>
                  </a:lnTo>
                  <a:lnTo>
                    <a:pt x="294418" y="214027"/>
                  </a:lnTo>
                  <a:lnTo>
                    <a:pt x="294418" y="214027"/>
                  </a:lnTo>
                  <a:close/>
                  <a:moveTo>
                    <a:pt x="234601" y="283655"/>
                  </a:moveTo>
                  <a:lnTo>
                    <a:pt x="215075" y="255651"/>
                  </a:lnTo>
                  <a:lnTo>
                    <a:pt x="59341" y="32861"/>
                  </a:lnTo>
                  <a:lnTo>
                    <a:pt x="126397" y="32861"/>
                  </a:lnTo>
                  <a:lnTo>
                    <a:pt x="252032" y="212598"/>
                  </a:lnTo>
                  <a:lnTo>
                    <a:pt x="271558" y="240601"/>
                  </a:lnTo>
                  <a:lnTo>
                    <a:pt x="434912" y="474250"/>
                  </a:lnTo>
                  <a:lnTo>
                    <a:pt x="367855" y="474250"/>
                  </a:lnTo>
                  <a:lnTo>
                    <a:pt x="234505" y="283559"/>
                  </a:lnTo>
                  <a:lnTo>
                    <a:pt x="234505" y="283559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305;p40"/>
            <p:cNvSpPr/>
            <p:nvPr/>
          </p:nvSpPr>
          <p:spPr>
            <a:xfrm>
              <a:off x="1791720" y="2638080"/>
              <a:ext cx="332640" cy="332640"/>
            </a:xfrm>
            <a:custGeom>
              <a:avLst/>
              <a:gdLst>
                <a:gd name="textAreaLeft" fmla="*/ 0 w 332640"/>
                <a:gd name="textAreaRight" fmla="*/ 333000 w 332640"/>
                <a:gd name="textAreaTop" fmla="*/ 0 h 332640"/>
                <a:gd name="textAreaBottom" fmla="*/ 333000 h 3326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000000"/>
      </a:dk1>
      <a:lt1>
        <a:srgbClr val="85d3f2"/>
      </a:lt1>
      <a:dk2>
        <a:srgbClr val="bbf2ed"/>
      </a:dk2>
      <a:lt2>
        <a:srgbClr val="cdd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2026-10-07T07:45:23Z</dcterms:created>
  <dc:creator>Slidesgo AI</dc:creator>
  <dc:description/>
  <dc:language>en-US</dc:language>
  <cp:lastModifiedBy>Unknown Creator</cp:lastModifiedBy>
  <dcterms:modified xsi:type="dcterms:W3CDTF">2026-10-07T07:45:23Z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a2ec5232-bacb-40e3-befa-36cb9b9cd6a2</vt:lpwstr>
  </property>
</Properties>
</file>